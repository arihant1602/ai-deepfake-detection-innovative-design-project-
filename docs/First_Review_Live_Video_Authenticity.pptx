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f1f556ed-a942-40e9-829a-acdf9a686901}">
          <p14:sldIdLst>
            <p14:sldId id="256"/>
          </p14:sldIdLst>
        </p14:section>
        <p14:section name="Review status" id="{1ab437be-2e65-0a40-443b-787faf9bea2e}">
          <p14:sldIdLst>
            <p14:sldId id="257"/>
          </p14:sldIdLst>
        </p14:section>
        <p14:section name="Project" id="{59a75fb1-7043-9f8c-f212-5f2b14d279e2}">
          <p14:sldIdLst>
            <p14:sldId id="258"/>
          </p14:sldIdLst>
        </p14:section>
        <p14:section name="Key techniques" id="{d942608d-8012-1c72-de85-f1b44b876cce}">
          <p14:sldIdLst>
            <p14:sldId id="259"/>
            <p14:sldId id="260"/>
          </p14:sldIdLst>
        </p14:section>
        <p14:section name="Literature review" id="{cbb6bf4f-fb5c-23fe-0230-52dc4273d475}">
          <p14:sldIdLst>
            <p14:sldId id="261"/>
            <p14:sldId id="262"/>
            <p14:sldId id="263"/>
          </p14:sldIdLst>
        </p14:section>
        <p14:section name="Gaps and objectives" id="{0f94c2bc-581e-9601-cee3-58152670349b}">
          <p14:sldIdLst>
            <p14:sldId id="264"/>
            <p14:sldId id="265"/>
          </p14:sldIdLst>
        </p14:section>
        <p14:section name="References" id="{6462c43d-595d-5a24-3e37-11a4e0cc9a0d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23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BACSE291 – Innovative Design Project | First Review | Fall Semester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BACSE291 – Innovative Design Project   |   Fall Semester 2026   |   First Review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ID: [enter project ID]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Video Authenticity Verification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CFE0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Detecting injected and AI-generated camera feeds in real time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37560"/>
          <a:ext cx="67665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377440"/>
                <a:gridCol w="2103120"/>
                <a:gridCol w="16459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Number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Arihant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[register no.]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Aarya Jadhav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[register no.]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[register no.]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Ramya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[register no.]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[register no.]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768096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DETAILS</a:t>
            </a:r>
            <a:endParaRPr lang="en-US" sz="13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3337560"/>
          <a:ext cx="39319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5603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 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[guide name]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[designation]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[school]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guide approval placeholder"/>
          <p:cNvSpPr/>
          <p:nvPr/>
        </p:nvSpPr>
        <p:spPr>
          <a:xfrm>
            <a:off x="7680960" y="452628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12313D"/>
          </a:solidFill>
          <a:ln w="12700">
            <a:solidFill>
              <a:srgbClr val="9FC4CC"/>
            </a:solidFill>
            <a:prstDash val="dash"/>
          </a:ln>
        </p:spPr>
      </p:sp>
      <p:sp>
        <p:nvSpPr>
          <p:cNvPr id="12" name="Text 8"/>
          <p:cNvSpPr txBox="1"/>
          <p:nvPr/>
        </p:nvSpPr>
        <p:spPr>
          <a:xfrm>
            <a:off x="7680960" y="452628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guide approval mail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status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2237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ID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[enter project ID]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Title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Video Authenticity Verification: detecting injected and AI-generated camera feeds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finalized and updated on VTOP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/ 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PPT approved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/ 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Meeting with guide frequently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Satisfied / Not Satisfied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Remarks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 description of the project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security · media forensics · biometric anti-spoofing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area: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identity verification (video KYC), online exam proctoring, high-trust video calls</a:t>
            </a:r>
            <a:endParaRPr lang="en-US" sz="1500" dirty="0"/>
          </a:p>
        </p:txBody>
      </p:sp>
      <p:sp>
        <p:nvSpPr>
          <p:cNvPr id="4" name="card Problem statement"/>
          <p:cNvSpPr/>
          <p:nvPr/>
        </p:nvSpPr>
        <p:spPr>
          <a:xfrm>
            <a:off x="548640" y="2103120"/>
            <a:ext cx="3566160" cy="4069080"/>
          </a:xfrm>
          <a:prstGeom prst="roundRect">
            <a:avLst>
              <a:gd name="adj" fmla="val 205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badge 1"/>
          <p:cNvSpPr/>
          <p:nvPr/>
        </p:nvSpPr>
        <p:spPr>
          <a:xfrm>
            <a:off x="777240" y="2286000"/>
            <a:ext cx="502920" cy="50292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331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26080"/>
            <a:ext cx="3154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bypass the camera: virtual cameras (OBS), hooked capture calls and emulators inject pre-made or real-time deepfake video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AI-identity fraud is rising fast; face swaps fool remote KYC checks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checks (ISO 30107-3) look for masks and screens at the lens, so they never see an injected stream</a:t>
            </a:r>
            <a:endParaRPr lang="en-US" sz="1400" dirty="0"/>
          </a:p>
        </p:txBody>
      </p:sp>
      <p:sp>
        <p:nvSpPr>
          <p:cNvPr id="9" name="card Proposed solution"/>
          <p:cNvSpPr/>
          <p:nvPr/>
        </p:nvSpPr>
        <p:spPr>
          <a:xfrm>
            <a:off x="4297680" y="2103120"/>
            <a:ext cx="3566160" cy="4069080"/>
          </a:xfrm>
          <a:prstGeom prst="roundRect">
            <a:avLst>
              <a:gd name="adj" fmla="val 205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4526280" y="2286000"/>
            <a:ext cx="502920" cy="50292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2331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926080"/>
            <a:ext cx="3154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gated pipeline of four checks on the live camera; any one can stop the session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camera? → Is it live (random brightness challenge)? → Real sensor noise? → Real face (deepfake model)?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Different: proves the pixels come from a live physical sensor, with no per-camera enrollment</a:t>
            </a:r>
            <a:endParaRPr lang="en-US" sz="1400" dirty="0"/>
          </a:p>
        </p:txBody>
      </p:sp>
      <p:sp>
        <p:nvSpPr>
          <p:cNvPr id="14" name="card Expected outcome"/>
          <p:cNvSpPr/>
          <p:nvPr/>
        </p:nvSpPr>
        <p:spPr>
          <a:xfrm>
            <a:off x="8046720" y="2103120"/>
            <a:ext cx="3566160" cy="4069080"/>
          </a:xfrm>
          <a:prstGeom prst="roundRect">
            <a:avLst>
              <a:gd name="adj" fmla="val 205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badge 3"/>
          <p:cNvSpPr/>
          <p:nvPr/>
        </p:nvSpPr>
        <p:spPr>
          <a:xfrm>
            <a:off x="8275320" y="2286000"/>
            <a:ext cx="502920" cy="50292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753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915400" y="2331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926080"/>
            <a:ext cx="3154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verdict on a laptop (all checks under 1 s of compute per second of video)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banks, KYC providers and exam platforms facing deepfake fraud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by false-accept / false-reject rates on public deepfake datasets and live webcam sessions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techniques in the domain (1/2)</a:t>
            </a:r>
            <a:endParaRPr lang="en-US" sz="3000" dirty="0"/>
          </a:p>
        </p:txBody>
      </p:sp>
      <p:sp>
        <p:nvSpPr>
          <p:cNvPr id="3" name="technique 1"/>
          <p:cNvSpPr/>
          <p:nvPr/>
        </p:nvSpPr>
        <p:spPr>
          <a:xfrm>
            <a:off x="548640" y="132588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badge 1"/>
          <p:cNvSpPr/>
          <p:nvPr/>
        </p:nvSpPr>
        <p:spPr>
          <a:xfrm>
            <a:off x="777240" y="1554480"/>
            <a:ext cx="640080" cy="64008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50876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 and host attestation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9659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kernel's own record of the capture device (V4L2 capabilities, sysfs bus, driver, USB ID) and check for VMs, debuggers and hooks.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project: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virtual cameras even when they fake the name "Integrated Camera".</a:t>
            </a:r>
            <a:endParaRPr lang="en-US" sz="1400" dirty="0"/>
          </a:p>
        </p:txBody>
      </p:sp>
      <p:sp>
        <p:nvSpPr>
          <p:cNvPr id="8" name="technique 2"/>
          <p:cNvSpPr/>
          <p:nvPr/>
        </p:nvSpPr>
        <p:spPr>
          <a:xfrm>
            <a:off x="548640" y="297180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badge 2"/>
          <p:cNvSpPr/>
          <p:nvPr/>
        </p:nvSpPr>
        <p:spPr>
          <a:xfrm>
            <a:off x="777240" y="3200400"/>
            <a:ext cx="640080" cy="640080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15468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challenge-response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61188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random brightness pattern to the physical camera and check that the received frames follow it.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project: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the stream is produced by that sensor now; replays and AI video cannot follow.</a:t>
            </a:r>
            <a:endParaRPr lang="en-US" sz="1400" dirty="0"/>
          </a:p>
        </p:txBody>
      </p:sp>
      <p:sp>
        <p:nvSpPr>
          <p:cNvPr id="13" name="technique 3"/>
          <p:cNvSpPr/>
          <p:nvPr/>
        </p:nvSpPr>
        <p:spPr>
          <a:xfrm>
            <a:off x="548640" y="461772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777240" y="4846320"/>
            <a:ext cx="640080" cy="64008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846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480060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noise forensics (PRNU / temporal noise)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525780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sensors add a fixed pixel pattern (PRNU) and fresh random noise to every frame.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project: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 blindly for fresh, sensor-like noise: no stored fingerprint needed.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techniques in the domain (2/2)</a:t>
            </a:r>
            <a:endParaRPr lang="en-US" sz="3000" dirty="0"/>
          </a:p>
        </p:txBody>
      </p:sp>
      <p:sp>
        <p:nvSpPr>
          <p:cNvPr id="3" name="technique 4"/>
          <p:cNvSpPr/>
          <p:nvPr/>
        </p:nvSpPr>
        <p:spPr>
          <a:xfrm>
            <a:off x="548640" y="132588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badge 4"/>
          <p:cNvSpPr/>
          <p:nvPr/>
        </p:nvSpPr>
        <p:spPr>
          <a:xfrm>
            <a:off x="777240" y="1554480"/>
            <a:ext cx="640080" cy="64008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50876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Codec fingerprinting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9659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Inter-frame video codecs copy unchanged blocks bit-for-bit between frames.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project: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camera never repeats a whole 8×8 block; files, replays and generators do.</a:t>
            </a:r>
            <a:endParaRPr lang="en-US" sz="1400" dirty="0"/>
          </a:p>
        </p:txBody>
      </p:sp>
      <p:sp>
        <p:nvSpPr>
          <p:cNvPr id="8" name="technique 5"/>
          <p:cNvSpPr/>
          <p:nvPr/>
        </p:nvSpPr>
        <p:spPr>
          <a:xfrm>
            <a:off x="548640" y="297180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badge 5"/>
          <p:cNvSpPr/>
          <p:nvPr/>
        </p:nvSpPr>
        <p:spPr>
          <a:xfrm>
            <a:off x="777240" y="3200400"/>
            <a:ext cx="640080" cy="640080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15468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Foundation-model deepfake detection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61188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aligned face crops with GenD: a frozen vision foundation model with LayerNorm-only fine-tuning.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project: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published cross-dataset generalization (91.6% mean AUROC over 14 benchmarks).</a:t>
            </a:r>
            <a:endParaRPr lang="en-US" sz="1400" dirty="0"/>
          </a:p>
        </p:txBody>
      </p:sp>
      <p:sp>
        <p:nvSpPr>
          <p:cNvPr id="13" name="technique 6"/>
          <p:cNvSpPr/>
          <p:nvPr/>
        </p:nvSpPr>
        <p:spPr>
          <a:xfrm>
            <a:off x="548640" y="461772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badge 6"/>
          <p:cNvSpPr/>
          <p:nvPr/>
        </p:nvSpPr>
        <p:spPr>
          <a:xfrm>
            <a:off x="777240" y="4846320"/>
            <a:ext cx="640080" cy="64008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846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480060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Gated fusion with early termination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525780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cheap checks first; stop the session at the first definitive failure.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project: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attacks are rejected in milliseconds, before any heavy pixel analysis.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(1/3)</a:t>
            </a:r>
            <a:endParaRPr lang="en-US" sz="3000" dirty="0"/>
          </a:p>
        </p:txBody>
      </p:sp>
      <p:sp>
        <p:nvSpPr>
          <p:cNvPr id="3" name="badge 1"/>
          <p:cNvSpPr/>
          <p:nvPr/>
        </p:nvSpPr>
        <p:spPr>
          <a:xfrm>
            <a:off x="548640" y="1188720"/>
            <a:ext cx="411480" cy="41148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1887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1 – Sensor-noise forensics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737360"/>
                <a:gridCol w="2377440"/>
                <a:gridCol w="2011680"/>
                <a:gridCol w="228600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Author(s), 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technique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/ tools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Lukáš et al., 2006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PRNU camera identification: denoising residual correlated with a camera fingerprint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 from 9 digital cameras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Identifies the source camera reliably, even after JPEG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reference images of each camera; still images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 et al., 2008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Maximum-likelihood PRNU estimate, PCE detector, forgery localization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 from multiple cameras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fingerprint estimate; locates tampered regions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an enrolled fingerprint; weak on small regions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Goljan et al., 2009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Large-scale PCE-based fingerprint matching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million Flickr images, ~6,900 cameras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PCE threshold 60 gives very low false acceptance at scale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Image-level; still requires a reference fingerprint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[4]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Mandelli et al., 2020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PRNU attribution for stabilized smartphone video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 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Stabilization breaks PRNU alignment; registration restores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Computationally heavy; reference-based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(2/3)</a:t>
            </a:r>
            <a:endParaRPr lang="en-US" sz="3000" dirty="0"/>
          </a:p>
        </p:txBody>
      </p:sp>
      <p:sp>
        <p:nvSpPr>
          <p:cNvPr id="3" name="badge 2"/>
          <p:cNvSpPr/>
          <p:nvPr/>
        </p:nvSpPr>
        <p:spPr>
          <a:xfrm>
            <a:off x="548640" y="1188720"/>
            <a:ext cx="411480" cy="411480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1887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2 – Deepfake detection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737360"/>
                <a:gridCol w="2377440"/>
                <a:gridCol w="2011680"/>
                <a:gridCol w="228600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Author(s), 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technique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/ tools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Rössler et al., 2019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+ supervised CNN (XceptionNet)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FaceForensics++ (1,000 videos, 4 methods)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CNNs detect known manipulations with high 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generalization to unseen methods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[6]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 et al., 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DF40 benchmark of 40 forgery techniques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Detectors drop sharply on new forgery families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dataset, not a detector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[7]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 et al., 2025 (Effort)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Orthogonal-subspace fine-tuning of CLIP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Trained on FF++, cross-dataset 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generalization (88.5% mean AUROC in [8]'s comparison)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model; frame-level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[8]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Yermakov et al., 2026 (GenD)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LayerNorm-only fine-tuning of a foundation encoder + metric learning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benchmarks, 2019–2025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of the art: 91.2–91.6% mean cross-dataset AUROC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Frame-level; in our tests flags 16% of compressed real faces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(3/3)</a:t>
            </a:r>
            <a:endParaRPr lang="en-US" sz="3000" dirty="0"/>
          </a:p>
        </p:txBody>
      </p:sp>
      <p:sp>
        <p:nvSpPr>
          <p:cNvPr id="3" name="badge 3"/>
          <p:cNvSpPr/>
          <p:nvPr/>
        </p:nvSpPr>
        <p:spPr>
          <a:xfrm>
            <a:off x="548640" y="1188720"/>
            <a:ext cx="411480" cy="41148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1887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3 – Liveness and injection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737360"/>
                <a:gridCol w="2377440"/>
                <a:gridCol w="2011680"/>
                <a:gridCol w="228600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Author(s), 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technique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/ tools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[9]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Tang et al., 2018 (Face Flashing)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Screen-light challenge; verify reflections on the face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devices and experiments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Challenge-response defeats replayed video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 screen light and ambient lighting; does not verify the camera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[10]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Ciftci et al., 2020 (FakeCatcher)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Biological signals (remote PPG) consistency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FaceForensics, Celeb-DF and others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faces show coherent heartbeat signals; fakes do not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 to compression, lighting and motion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[11]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CEN, 2024 (CEN/TS 18099)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for biometric data injection attack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Defines injection detection as distinct from presentation attacks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Specifies evaluation, not a detection 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gaps</a:t>
            </a:r>
            <a:endParaRPr lang="en-US" sz="3000" dirty="0"/>
          </a:p>
        </p:txBody>
      </p:sp>
      <p:sp>
        <p:nvSpPr>
          <p:cNvPr id="3" name="gap 1"/>
          <p:cNvSpPr/>
          <p:nvPr/>
        </p:nvSpPr>
        <p:spPr>
          <a:xfrm>
            <a:off x="548640" y="123444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badge G1"/>
          <p:cNvSpPr/>
          <p:nvPr/>
        </p:nvSpPr>
        <p:spPr>
          <a:xfrm>
            <a:off x="731520" y="1380744"/>
            <a:ext cx="548640" cy="548640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807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307592"/>
            <a:ext cx="9966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/ presentation-attack detection assumes a physical lens; injected streams (virtual cameras, hooks, emulators) bypass it entirely</a:t>
            </a:r>
            <a:endParaRPr lang="en-US" sz="1500" dirty="0"/>
          </a:p>
        </p:txBody>
      </p:sp>
      <p:sp>
        <p:nvSpPr>
          <p:cNvPr id="7" name="gap 2"/>
          <p:cNvSpPr/>
          <p:nvPr/>
        </p:nvSpPr>
        <p:spPr>
          <a:xfrm>
            <a:off x="548640" y="2221992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badge G2"/>
          <p:cNvSpPr/>
          <p:nvPr/>
        </p:nvSpPr>
        <p:spPr>
          <a:xfrm>
            <a:off x="731520" y="2368296"/>
            <a:ext cx="548640" cy="548640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3682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295144"/>
            <a:ext cx="9966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classifiers do not generalize reliably and raise false alarms on compressed or low-quality real video; they cannot prove a camera captured the frames</a:t>
            </a:r>
            <a:endParaRPr lang="en-US" sz="1500" dirty="0"/>
          </a:p>
        </p:txBody>
      </p:sp>
      <p:sp>
        <p:nvSpPr>
          <p:cNvPr id="11" name="gap 3"/>
          <p:cNvSpPr/>
          <p:nvPr/>
        </p:nvSpPr>
        <p:spPr>
          <a:xfrm>
            <a:off x="548640" y="3209544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badge G3"/>
          <p:cNvSpPr/>
          <p:nvPr/>
        </p:nvSpPr>
        <p:spPr>
          <a:xfrm>
            <a:off x="731520" y="3355848"/>
            <a:ext cx="548640" cy="548640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355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282696"/>
            <a:ext cx="9966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Sensor-noise forensics needs a reference fingerprint per camera (enrollment), which is impractical for one-time remote checks</a:t>
            </a:r>
            <a:endParaRPr lang="en-US" sz="1500" dirty="0"/>
          </a:p>
        </p:txBody>
      </p:sp>
      <p:sp>
        <p:nvSpPr>
          <p:cNvPr id="15" name="gap 4"/>
          <p:cNvSpPr/>
          <p:nvPr/>
        </p:nvSpPr>
        <p:spPr>
          <a:xfrm>
            <a:off x="548640" y="4197096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badge G4"/>
          <p:cNvSpPr/>
          <p:nvPr/>
        </p:nvSpPr>
        <p:spPr>
          <a:xfrm>
            <a:off x="731520" y="4343400"/>
            <a:ext cx="548640" cy="548640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270248"/>
            <a:ext cx="9966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checks for virtual cameras are signature-based and easy to spoof; nothing confirms the frames come from the attested sensor</a:t>
            </a:r>
            <a:endParaRPr lang="en-US" sz="1500" dirty="0"/>
          </a:p>
        </p:txBody>
      </p:sp>
      <p:sp>
        <p:nvSpPr>
          <p:cNvPr id="19" name="gap 5"/>
          <p:cNvSpPr/>
          <p:nvPr/>
        </p:nvSpPr>
        <p:spPr>
          <a:xfrm>
            <a:off x="548640" y="5184648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badge G5"/>
          <p:cNvSpPr/>
          <p:nvPr/>
        </p:nvSpPr>
        <p:spPr>
          <a:xfrm>
            <a:off x="731520" y="5330952"/>
            <a:ext cx="548640" cy="548640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5330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5257800"/>
            <a:ext cx="9966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systems combine device attestation, sensor physics and content analysis in one real-time, low-cost pipeline evaluated against injection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objective 1"/>
          <p:cNvSpPr/>
          <p:nvPr/>
        </p:nvSpPr>
        <p:spPr>
          <a:xfrm>
            <a:off x="548640" y="1280160"/>
            <a:ext cx="3566160" cy="2971800"/>
          </a:xfrm>
          <a:prstGeom prst="roundRect">
            <a:avLst>
              <a:gd name="adj" fmla="val 24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badge O1"/>
          <p:cNvSpPr/>
          <p:nvPr/>
        </p:nvSpPr>
        <p:spPr>
          <a:xfrm>
            <a:off x="777240" y="1463040"/>
            <a:ext cx="594360" cy="59436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the injection channel on the device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7180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 the physical camera from kernel records and prove it is live with a randomized sensor challenge (addresses G1, G4)</a:t>
            </a:r>
            <a:endParaRPr lang="en-US" sz="1400" dirty="0"/>
          </a:p>
        </p:txBody>
      </p:sp>
      <p:sp>
        <p:nvSpPr>
          <p:cNvPr id="8" name="objective 2"/>
          <p:cNvSpPr/>
          <p:nvPr/>
        </p:nvSpPr>
        <p:spPr>
          <a:xfrm>
            <a:off x="4297680" y="1280160"/>
            <a:ext cx="3566160" cy="2971800"/>
          </a:xfrm>
          <a:prstGeom prst="roundRect">
            <a:avLst>
              <a:gd name="adj" fmla="val 24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badge O2"/>
          <p:cNvSpPr/>
          <p:nvPr/>
        </p:nvSpPr>
        <p:spPr>
          <a:xfrm>
            <a:off x="4526280" y="1463040"/>
            <a:ext cx="594360" cy="59436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1945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camera origin without enrollment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97180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live-sensor-noise test that rejects codec-processed, generated and synthetic-grain video (addresses G3)</a:t>
            </a:r>
            <a:endParaRPr lang="en-US" sz="1400" dirty="0"/>
          </a:p>
        </p:txBody>
      </p:sp>
      <p:sp>
        <p:nvSpPr>
          <p:cNvPr id="13" name="objective 3"/>
          <p:cNvSpPr/>
          <p:nvPr/>
        </p:nvSpPr>
        <p:spPr>
          <a:xfrm>
            <a:off x="8046720" y="1280160"/>
            <a:ext cx="3566160" cy="2971800"/>
          </a:xfrm>
          <a:prstGeom prst="roundRect">
            <a:avLst>
              <a:gd name="adj" fmla="val 24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badge O3"/>
          <p:cNvSpPr/>
          <p:nvPr/>
        </p:nvSpPr>
        <p:spPr>
          <a:xfrm>
            <a:off x="8275320" y="1463040"/>
            <a:ext cx="594360" cy="59436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1945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Fuse with a generalizable deepfake model in real time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97180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GenD on aligned faces and evaluate the full gated pipeline on public deepfake benchmarks and live webcam sessions (addresses G2, G5)</a:t>
            </a:r>
            <a:endParaRPr lang="en-US" sz="1400" dirty="0"/>
          </a:p>
        </p:txBody>
      </p:sp>
      <p:sp>
        <p:nvSpPr>
          <p:cNvPr id="18" name="main objective"/>
          <p:cNvSpPr/>
          <p:nvPr/>
        </p:nvSpPr>
        <p:spPr>
          <a:xfrm>
            <a:off x="548640" y="452628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12313D"/>
          </a:solidFill>
          <a:ln w="12700">
            <a:solidFill>
              <a:srgbClr val="1231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OBJECTIVE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9834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and evaluate a low-cost, real-time system that proves a video feed comes from a live physical camera and shows a real face, by combining device attestation, sensor challenge-response, sensor-noise physics and a deepfake detector.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(1/2)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Lukáš, J., Fridrich, J., &amp; Goljan, M. (2006). Digital camera identification from sensor pattern noise. IEEE Transactions on Information Forensics and Security, 1(2), 205–214.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Chen, M., Fridrich, J., Goljan, M., &amp; Lukáš, J. (2008). Determining image origin and integrity using sensor noise. IEEE Transactions on Information Forensics and Security, 3(1), 74–90.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Goljan, M., Fridrich, J., &amp; Filler, T. (2009). Large scale test of sensor fingerprint camera identification. In Proceedings of SPIE 7254, Media Forensics and Security.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Mandelli, S., Bestagini, P., Verdoliva, L., &amp; Tubaro, S. (2020). Facing device attribution problem for stabilized video sequences. IEEE Transactions on Information Forensics and Security, 15, 14–27.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Rössler, A., Cozzolino, D., Verdoliva, L., Riess, C., Thies, J., &amp; Nießner, M. (2019). FaceForensics++: Learning to detect manipulated facial images. In Proceedings of the IEEE/CVF International Conference on Computer Vision (ICCV).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Yan, Z., et al. (2024). DF40: Toward next-generation deepfake detection. In Advances in Neural Information Processing Systems (NeurIPS), Datasets and Benchmarks Track.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Yan, Z., et al. (2025). Orthogonal subspace decomposition for generalizable AI-generated image detection. In Proceedings of the International Conference on Machine Learning (ICML).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(2/2)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Yermakov, A., Cech, J., Matas, J., &amp; Fritz, M. (2026). Deepfake detection that generalizes across benchmarks. In Proceedings of the IEEE/CVF Winter Conference on Applications of Computer Vision (WACV).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Tang, D., Zhou, Z., Zhang, Y., &amp; Zhang, K. (2018). Face Flashing: A secure liveness detection protocol based on light reflections. In Network and Distributed System Security Symposium (NDSS).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 Ciftci, U. A., Demir, I., &amp; Yin, L. (2020). FakeCatcher: Detection of synthetic portrait videos using biological signals. IEEE Transactions on Pattern Analysis and Machine Intelligence.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 European Committee for Standardization. (2024). CEN/TS 18099:2024 Biometric data injection attack detection. CEN.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 Shullani, D., Fontani, M., Iuliani, M., Al Shaya, O., &amp; Piva, A. (2017). VISION: A video and image dataset for source identification. EURASIP Journal on Information Security, 2017(1), 15.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 Wu, W., Peng, H., &amp; Yu, S. (2023). YuNet: A tiny millisecond-level face detector. Machine Intelligence Research, 20(5), 656–665.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 International Organization for Standardization. (2023). ISO/IEC 30107-3:2023 Information technology — Biometric presentation attack detection — Part 3: Testing and reporting. ISO.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k and Signal">
  <a:themeElements>
    <a:clrScheme name="Ink and Signal">
      <a:dk1>
        <a:srgbClr val="16202A"/>
      </a:dk1>
      <a:lt1>
        <a:srgbClr val="FFFFFF"/>
      </a:lt1>
      <a:dk2>
        <a:srgbClr val="12313D"/>
      </a:dk2>
      <a:lt2>
        <a:srgbClr val="EEF2F4"/>
      </a:lt2>
      <a:accent1>
        <a:srgbClr val="1F7A8C"/>
      </a:accent1>
      <a:accent2>
        <a:srgbClr val="E07A2F"/>
      </a:accent2>
      <a:accent3>
        <a:srgbClr val="5B6B75"/>
      </a:accent3>
      <a:accent4>
        <a:srgbClr val="9FC4CC"/>
      </a:accent4>
      <a:accent5>
        <a:srgbClr val="C8553D"/>
      </a:accent5>
      <a:accent6>
        <a:srgbClr val="3E8E5E"/>
      </a:accent6>
      <a:hlink>
        <a:srgbClr val="1F7A8C"/>
      </a:hlink>
      <a:folHlink>
        <a:srgbClr val="5B6B75"/>
      </a:folHlink>
    </a:clrScheme>
    <a:fontScheme name="Ink and Sign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Live Video Authenticity Verification – First Review</dc:title>
  <dc:subject>PptxGenJS Presentation</dc:subject>
  <dc:creator>BACSE291 Project Team</dc:creator>
  <cp:lastModifiedBy>BACSE291 Project Team</cp:lastModifiedBy>
  <cp:revision>1</cp:revision>
  <dcterms:created xsi:type="dcterms:W3CDTF">2026-10-05T17:49:26Z</dcterms:created>
  <dcterms:modified xsi:type="dcterms:W3CDTF">2026-10-05T17:49:26Z</dcterms:modified>
</cp:coreProperties>
</file>